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8391D-0864-0E53-DBA2-CC0EBD07C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487178-078C-FC76-AFF4-1423F2203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342DFA-C43A-FC59-FD47-79E75042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7E68-CF9C-43B7-A531-DE75F0FF1232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11E547-EBDB-74EB-BC8E-9934509CD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FCF3E1-097D-B3DB-D190-8C163DF0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4255-C481-45B7-A0BD-7F4E6259DA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6248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F833E-4646-628C-5AFC-A97B99D1F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77D7C8-1B92-9A1C-6CC7-22CA82175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2C925C-7780-60F6-3A3E-99E0B835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7E68-CF9C-43B7-A531-DE75F0FF1232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B9C9D3-31FA-4BCA-8C53-42C8B8B0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D82F26-43CF-032C-2083-D179461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4255-C481-45B7-A0BD-7F4E6259DA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1359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540BA-C21E-DC60-0D6A-E148C54A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36979A-2334-0F27-901E-A2736F295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98550F-3016-9B59-7A2B-A2EE7CDA0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7E68-CF9C-43B7-A531-DE75F0FF1232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825C79-BD94-EAF8-0A37-D8E12E7AF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CEA614-417A-90B2-F0CC-058443C5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4255-C481-45B7-A0BD-7F4E6259DA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392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9A63D2-C4C8-3494-B187-A7F26B7C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E2A958-ED58-A6D1-23AB-1E8952D77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8A4DCF-7D45-35F5-87A7-7F332F435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99AC6A-4023-AF58-5424-AB707913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7E68-CF9C-43B7-A531-DE75F0FF1232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7ADA76-9CAC-EF46-2DEB-DBE08D0FF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2DE211-0F5D-E561-1F15-B0B8E4A58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4255-C481-45B7-A0BD-7F4E6259DA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479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68568-33EE-DA59-A115-61E24EFE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C653CD-DE2B-F7EB-5ABF-2DEACB886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C1FDFA-C86A-A287-5BB7-85435592B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B1679DC-1B03-B831-6C54-4CC74CE2F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1AEB406-4754-BB78-2A7D-7EA70E8AB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26A8687-B251-730E-553E-3127A9602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7E68-CF9C-43B7-A531-DE75F0FF1232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54A9FC4-818A-C7D7-C457-B21E42360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F1E3591-A5B7-A52A-4108-8034B5279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4255-C481-45B7-A0BD-7F4E6259DA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728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8DEEC-B9E5-FAE9-A746-75AAB5F1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D9C969C-F263-069B-3361-F846FE726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7E68-CF9C-43B7-A531-DE75F0FF1232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2C8061-3B1F-419D-42B7-E2EF85F21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522215-FF37-59E4-C193-2D8CD1B40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4255-C481-45B7-A0BD-7F4E6259DA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522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73957B9-0546-CF6A-4E35-0D6991C9C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7E68-CF9C-43B7-A531-DE75F0FF1232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D50C73-F416-1C51-0B7A-6FFB1EAFF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13716A-99D4-A714-EA1D-1C01A5B2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4255-C481-45B7-A0BD-7F4E6259DA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457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BACBA-072F-A193-1B51-95451653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A6ECA8-280C-533F-09C1-DBB27CE8D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5F81DE-0A9A-02DF-88CD-68479E68E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AB6824-8EF7-9686-4D0D-3A7C5138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7E68-CF9C-43B7-A531-DE75F0FF1232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97E04D-C691-AE6A-1982-88AA384A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004B63-4009-5680-50AF-8FC305FA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4255-C481-45B7-A0BD-7F4E6259DA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5923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A5F4C-5E7A-AD9B-F778-EFC2E46D6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3A2C953-CB10-73BF-3E1C-1CE8E0BAA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241123-4090-A745-B82B-A392B24B1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7D2707-4B04-81D9-C6E0-019F37F6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7E68-CF9C-43B7-A531-DE75F0FF1232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B0B6B2-2DED-DB14-B863-69D3345A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ABACB2-646C-6FBB-8F17-3A6010D1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4255-C481-45B7-A0BD-7F4E6259DA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26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C3EBB-1B88-5FD2-AF4E-FCBB2B5FE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87D812-58B1-BBED-16CD-ABD93F187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4855B2-05B6-6921-AAA3-DD2013FA5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7E68-CF9C-43B7-A531-DE75F0FF1232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05159C-D6B0-B7E5-24DE-2D14C3D2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5C8613-7BA4-E08A-419A-8869E16F5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4255-C481-45B7-A0BD-7F4E6259DA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367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04ADCF-7663-F9A7-25C7-158FC7A0C7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B1EAEF-7FFE-F468-5647-1599C6A07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967EAC-835F-4DC3-3D4D-34386C6C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7E68-CF9C-43B7-A531-DE75F0FF1232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D34EE0-1F70-F907-D9F3-B18EFA415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08F57D-5DAA-5964-FBC2-DF651C27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F4255-C481-45B7-A0BD-7F4E6259DA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0856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B04870-86E8-D4E4-165B-10AD3E177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DDA25F-D9A5-26E6-01E7-DD8FDAA90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B740B8-E17D-8EDD-F734-AF4F71C15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17E68-CF9C-43B7-A531-DE75F0FF1232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F2510B-62BD-1815-249B-92AFCD921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A213D7-D3E8-D108-0116-89BAF6B4B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F4255-C481-45B7-A0BD-7F4E6259DAF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507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DA1E3813-4CC4-69FC-2465-F629517BA7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22CA5F0-874F-A05B-BFD7-DFF20FE5450E}"/>
              </a:ext>
            </a:extLst>
          </p:cNvPr>
          <p:cNvSpPr/>
          <p:nvPr/>
        </p:nvSpPr>
        <p:spPr>
          <a:xfrm>
            <a:off x="762000" y="3708400"/>
            <a:ext cx="1066800" cy="63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05E9B2A-76CF-D7AA-4C06-D6E03C9F28A6}"/>
              </a:ext>
            </a:extLst>
          </p:cNvPr>
          <p:cNvSpPr txBox="1"/>
          <p:nvPr/>
        </p:nvSpPr>
        <p:spPr>
          <a:xfrm>
            <a:off x="762000" y="2413000"/>
            <a:ext cx="10668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4400" b="1">
                <a:solidFill>
                  <a:srgbClr val="FFFFF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268C0D-9B46-26B6-9488-131127CABEF9}"/>
              </a:ext>
            </a:extLst>
          </p:cNvPr>
          <p:cNvSpPr txBox="1"/>
          <p:nvPr/>
        </p:nvSpPr>
        <p:spPr>
          <a:xfrm>
            <a:off x="762000" y="3886200"/>
            <a:ext cx="10668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200">
                <a:solidFill>
                  <a:srgbClr val="93C5FD"/>
                </a:solidFill>
                <a:latin typeface="Segoe UI" panose="020B0502040204020203" pitchFamily="34" charset="0"/>
              </a:rPr>
              <a:t>Qué es y qué hace por ti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825D8E-F677-5DF0-0A8D-869A86F6419B}"/>
              </a:ext>
            </a:extLst>
          </p:cNvPr>
          <p:cNvSpPr txBox="1"/>
          <p:nvPr/>
        </p:nvSpPr>
        <p:spPr>
          <a:xfrm>
            <a:off x="762000" y="5969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300">
                <a:solidFill>
                  <a:srgbClr val="9CA3AF"/>
                </a:solidFill>
                <a:latin typeface="Segoe UI" panose="020B0502040204020203" pitchFamily="34" charset="0"/>
              </a:rPr>
              <a:t>Presentación del producto · Equipo de Desarrollo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0E429A4-EA8B-335D-2ADC-EAE980AE0125}"/>
              </a:ext>
            </a:extLst>
          </p:cNvPr>
          <p:cNvSpPr txBox="1"/>
          <p:nvPr/>
        </p:nvSpPr>
        <p:spPr>
          <a:xfrm>
            <a:off x="9652000" y="5969000"/>
            <a:ext cx="177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300">
                <a:solidFill>
                  <a:srgbClr val="9CA3AF"/>
                </a:solidFill>
                <a:latin typeface="Segoe UI" panose="020B0502040204020203" pitchFamily="34" charset="0"/>
              </a:rPr>
              <a:t>Soltum</a:t>
            </a:r>
          </a:p>
        </p:txBody>
      </p:sp>
    </p:spTree>
    <p:extLst>
      <p:ext uri="{BB962C8B-B14F-4D97-AF65-F5344CB8AC3E}">
        <p14:creationId xmlns:p14="http://schemas.microsoft.com/office/powerpoint/2010/main" val="3774088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E2C8A83-6C78-4A95-3946-DDE7C656D57B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¿Qué es?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8323577-188A-A5A8-3174-D44233E75958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1660FD3-D781-3E9B-BF62-C8A81059ABA8}"/>
              </a:ext>
            </a:extLst>
          </p:cNvPr>
          <p:cNvSpPr txBox="1"/>
          <p:nvPr/>
        </p:nvSpPr>
        <p:spPr>
          <a:xfrm>
            <a:off x="711200" y="1422400"/>
            <a:ext cx="107696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Una sola aplicación de escritorio para todo el equipo, conectada a la base compartida.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El menú depende de tu rol: como desarrollador ves tu espacio de autoservicio.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Vive en la bandeja del sistema: cerrar con la X la deja vigilando tus avisos.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Un solo ejecutable, sin instalación, y se actualiza solo.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5B63263-B61F-F329-09F3-4CB746BE588C}"/>
              </a:ext>
            </a:extLst>
          </p:cNvPr>
          <p:cNvSpPr/>
          <p:nvPr/>
        </p:nvSpPr>
        <p:spPr>
          <a:xfrm>
            <a:off x="0" y="6045200"/>
            <a:ext cx="12192000" cy="5080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C10FA80-8249-F271-4D33-26C52851D10E}"/>
              </a:ext>
            </a:extLst>
          </p:cNvPr>
          <p:cNvSpPr txBox="1"/>
          <p:nvPr/>
        </p:nvSpPr>
        <p:spPr>
          <a:xfrm>
            <a:off x="711200" y="6146800"/>
            <a:ext cx="965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200" i="1">
                <a:solidFill>
                  <a:srgbClr val="6B7280"/>
                </a:solidFill>
                <a:latin typeface="Segoe UI" panose="020B0502040204020203" pitchFamily="34" charset="0"/>
              </a:rPr>
              <a:t>La misma aplicación que usan el administrador y Operaciones: cada quien ve lo suyo.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A983A4F-98E5-51BB-65AF-616DE06B6EC7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94A5709-F8E7-61E0-3559-D368FDDDDDED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2928977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9F9E48F-3075-B2E9-1642-A7F23AB98C7F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Lo que resuelve para ti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3586B4-9C5F-5BC6-D118-494A2AD3E9EB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FEAA227-0AD0-4DAC-7B77-B26046DA7B52}"/>
              </a:ext>
            </a:extLst>
          </p:cNvPr>
          <p:cNvSpPr txBox="1"/>
          <p:nvPr/>
        </p:nvSpPr>
        <p:spPr>
          <a:xfrm>
            <a:off x="711200" y="1422400"/>
            <a:ext cx="107696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Tu trabajo del día en un solo lugar: asignaciones, tickets, actividades y compromisos.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Tu tiempo se registra con cronómetro, día por día, sin hojas de Excel.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Vacaciones, evaluaciones y sugerencias sin perseguir a nadie.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Los avisos te buscan a ti: ticket asignado, SLA por vencer, comunicados.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728EE94-635D-19FF-240A-282D66240A84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B3000AD-716C-1BFA-7D82-E5C8B7EE1E30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112248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0605D76-F19B-D5B3-7266-1DB765EDEF73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Mi Panel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152120F-3807-A451-424B-3526E937FC8F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0D5B0AB-6DEC-C96B-4F19-100BECDD2E01}"/>
              </a:ext>
            </a:extLst>
          </p:cNvPr>
          <p:cNvSpPr txBox="1"/>
          <p:nvPr/>
        </p:nvSpPr>
        <p:spPr>
          <a:xfrm>
            <a:off x="711200" y="1422400"/>
            <a:ext cx="5029200" cy="15542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Tus indicadores y pendientes al entrar: lo primero que ves es tu semana.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Registra lo que hiciste con autocalificación; el administrador la aprueba.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Cinco pestañas para moverte rápido por todo lo tuyo.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404BE24-C713-419E-9B69-1A7876EBC60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422400"/>
            <a:ext cx="5969000" cy="3619500"/>
          </a:xfrm>
          <a:prstGeom prst="rect">
            <a:avLst/>
          </a:prstGeom>
          <a:ln w="12700">
            <a:solidFill>
              <a:srgbClr val="D1D5DB"/>
            </a:solidFill>
          </a:ln>
          <a:effectLst>
            <a:outerShdw blurRad="63500" sx="102000" sy="102000" algn="ctr">
              <a:prstClr val="black">
                <a:alpha val="25000"/>
              </a:prstClr>
            </a:outerShdw>
          </a:effec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ED3D616-D036-0465-224C-E456916B77AA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C05D973-FD7B-158B-AEAA-E9915526F06D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5172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BB596F0-3B28-2B75-6342-AD3946B378E3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Mis Asignaciones y el cronómetro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6C946C4-51D7-79B8-A065-4D034DCAD4E4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D214CF9-2005-7B1D-783E-16553F1F21D7}"/>
              </a:ext>
            </a:extLst>
          </p:cNvPr>
          <p:cNvSpPr txBox="1"/>
          <p:nvPr/>
        </p:nvSpPr>
        <p:spPr>
          <a:xfrm>
            <a:off x="711200" y="1422400"/>
            <a:ext cx="5029200" cy="17851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Tus requerimientos asignados, con estado y fecha compromiso.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Cronómetro por tarea: el tiempo queda registrado por día.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El tiempo puede reportarse a Azure DevOps automáticamente.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031A322-5B33-5F72-B20B-A62B699A622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422400"/>
            <a:ext cx="5969000" cy="3619500"/>
          </a:xfrm>
          <a:prstGeom prst="rect">
            <a:avLst/>
          </a:prstGeom>
          <a:ln w="12700">
            <a:solidFill>
              <a:srgbClr val="D1D5DB"/>
            </a:solidFill>
          </a:ln>
          <a:effectLst>
            <a:outerShdw blurRad="63500" sx="102000" sy="102000" algn="ctr">
              <a:prstClr val="black">
                <a:alpha val="25000"/>
              </a:prstClr>
            </a:outerShdw>
          </a:effec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831F6F5-FCE0-D9F7-C356-F1EDD8739F27}"/>
              </a:ext>
            </a:extLst>
          </p:cNvPr>
          <p:cNvSpPr/>
          <p:nvPr/>
        </p:nvSpPr>
        <p:spPr>
          <a:xfrm>
            <a:off x="0" y="6045200"/>
            <a:ext cx="12192000" cy="5080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847F312-78EF-7F9E-D49C-E26D469E932E}"/>
              </a:ext>
            </a:extLst>
          </p:cNvPr>
          <p:cNvSpPr txBox="1"/>
          <p:nvPr/>
        </p:nvSpPr>
        <p:spPr>
          <a:xfrm>
            <a:off x="711200" y="6146800"/>
            <a:ext cx="965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200" i="1">
                <a:solidFill>
                  <a:srgbClr val="6B7280"/>
                </a:solidFill>
                <a:latin typeface="Segoe UI" panose="020B0502040204020203" pitchFamily="34" charset="0"/>
              </a:rPr>
              <a:t>Se acabó reconstruir la semana de memoria el viernes.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3C3A3C7-5A86-34D6-C081-2EE1BCD8AD18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6A480D6-E0D0-F5E0-BDE2-D3E40C2CE75A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2005798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9FD560D-0136-8C7B-3BF6-31FFED41597C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fr-FR" sz="2700" b="1">
                <a:solidFill>
                  <a:srgbClr val="1F2937"/>
                </a:solidFill>
                <a:latin typeface="Segoe UI" panose="020B0502040204020203" pitchFamily="34" charset="0"/>
              </a:rPr>
              <a:t>Mis tickets de Azure DevOps</a:t>
            </a:r>
            <a:endParaRPr lang="es-MX" sz="2700" b="1">
              <a:solidFill>
                <a:srgbClr val="1F293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DC03B12-4DD6-A3E5-322C-F9E939264230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7AB3BEF-4F07-7428-7F5B-B8F967162765}"/>
              </a:ext>
            </a:extLst>
          </p:cNvPr>
          <p:cNvSpPr txBox="1"/>
          <p:nvPr/>
        </p:nvSpPr>
        <p:spPr>
          <a:xfrm>
            <a:off x="711200" y="1422400"/>
            <a:ext cx="50292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Sincroniza tus work items con un clic.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Comenta con evidencia (captura de pantalla) sin salir de la aplicación.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Cambia la prioridad y queda constancia de quién y cuándo.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Aviso al momento: «te asignaron un ticket».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B741C16-5C90-2009-8D34-CDC6645CAF5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422400"/>
            <a:ext cx="5969000" cy="3619500"/>
          </a:xfrm>
          <a:prstGeom prst="rect">
            <a:avLst/>
          </a:prstGeom>
          <a:ln w="12700">
            <a:solidFill>
              <a:srgbClr val="D1D5DB"/>
            </a:solidFill>
          </a:ln>
          <a:effectLst>
            <a:outerShdw blurRad="63500" sx="102000" sy="102000" algn="ctr">
              <a:prstClr val="black">
                <a:alpha val="25000"/>
              </a:prstClr>
            </a:outerShdw>
          </a:effec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0F1425D-A2E0-EBEB-ECAD-423D25DF2B8F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EA9219-7DA7-57D6-E0F7-E129810DA1E2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330331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ADFE160-32B4-2885-E8F8-BEA1DDB2B08F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Mis SLA — compromisos de atención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FF48573-6568-7133-B012-24B26D285A33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AAFBB4E-8FBF-2CC6-205A-5A1FF7830C65}"/>
              </a:ext>
            </a:extLst>
          </p:cNvPr>
          <p:cNvSpPr txBox="1"/>
          <p:nvPr/>
        </p:nvSpPr>
        <p:spPr>
          <a:xfrm>
            <a:off x="711200" y="1422400"/>
            <a:ext cx="5029200" cy="15542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Compromisos por prioridad con fecha límite clara.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La aplicación te recuerda ANTES de que venza, no después.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Con tu PAT personal, lo que comentas en DevOps sale a TU nombre.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8B03F55-6D1E-581E-20D5-86B9459BF60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422400"/>
            <a:ext cx="5969000" cy="3619500"/>
          </a:xfrm>
          <a:prstGeom prst="rect">
            <a:avLst/>
          </a:prstGeom>
          <a:ln w="12700">
            <a:solidFill>
              <a:srgbClr val="D1D5DB"/>
            </a:solidFill>
          </a:ln>
          <a:effectLst>
            <a:outerShdw blurRad="63500" sx="102000" sy="102000" algn="ctr">
              <a:prstClr val="black">
                <a:alpha val="25000"/>
              </a:prstClr>
            </a:outerShdw>
          </a:effec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8CDBB86-C425-7AB8-CBCF-37EAA0CEC6F1}"/>
              </a:ext>
            </a:extLst>
          </p:cNvPr>
          <p:cNvSpPr/>
          <p:nvPr/>
        </p:nvSpPr>
        <p:spPr>
          <a:xfrm>
            <a:off x="0" y="6045200"/>
            <a:ext cx="12192000" cy="508000"/>
          </a:xfrm>
          <a:prstGeom prst="rect">
            <a:avLst/>
          </a:prstGeom>
          <a:solidFill>
            <a:srgbClr val="F3F4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8841BA0-3DA9-CF23-DABE-0357547AAA67}"/>
              </a:ext>
            </a:extLst>
          </p:cNvPr>
          <p:cNvSpPr txBox="1"/>
          <p:nvPr/>
        </p:nvSpPr>
        <p:spPr>
          <a:xfrm>
            <a:off x="711200" y="6146800"/>
            <a:ext cx="9652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200" i="1">
                <a:solidFill>
                  <a:srgbClr val="6B7280"/>
                </a:solidFill>
                <a:latin typeface="Segoe UI" panose="020B0502040204020203" pitchFamily="34" charset="0"/>
              </a:rPr>
              <a:t>El PAT se guarda cifrado en tu equipo: nadie más puede usarlo.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9951EF-43D5-1E7F-29B1-C5A5C975778E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1ED5A55-AC42-463D-8387-3FBAC01E617A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2107329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4E40DAC-CA2E-11C8-E78B-F2EBBB2B84A9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Mis Actividades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644DCA7-AAC6-CD56-9351-4A7EF8DDE314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F354B3E-9BE0-AB4B-F935-76DC7D457DB4}"/>
              </a:ext>
            </a:extLst>
          </p:cNvPr>
          <p:cNvSpPr txBox="1"/>
          <p:nvPr/>
        </p:nvSpPr>
        <p:spPr>
          <a:xfrm>
            <a:off x="711200" y="1422400"/>
            <a:ext cx="5029200" cy="9387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Actividades libres —soporte, juntas, investigación— con su cronómetro.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Editar, cerrar y reabrir: nada desaparece en silencio.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70F5491-AA68-8CDA-F0FC-1CA26C631E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422400"/>
            <a:ext cx="5969000" cy="3619500"/>
          </a:xfrm>
          <a:prstGeom prst="rect">
            <a:avLst/>
          </a:prstGeom>
          <a:ln w="12700">
            <a:solidFill>
              <a:srgbClr val="D1D5DB"/>
            </a:solidFill>
          </a:ln>
          <a:effectLst>
            <a:outerShdw blurRad="63500" sx="102000" sy="102000" algn="ctr">
              <a:prstClr val="black">
                <a:alpha val="25000"/>
              </a:prstClr>
            </a:outerShdw>
          </a:effec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FE8FC4F-C5B8-3AD2-A231-9BC7D8EF8877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876D1B7-B82F-9CF4-609A-972F7D918665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590894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DA28CFA-86EB-A236-DD7B-C30920CC76F0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Mis Evaluaciones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B6D99F3-4B3E-EB2E-319D-91B7A53AF050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35D4F23-2901-BBA0-31F4-B9B21ACBFF2F}"/>
              </a:ext>
            </a:extLst>
          </p:cNvPr>
          <p:cNvSpPr txBox="1"/>
          <p:nvPr/>
        </p:nvSpPr>
        <p:spPr>
          <a:xfrm>
            <a:off x="711200" y="1422400"/>
            <a:ext cx="10769600" cy="11849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Tus puntajes y aprobaciones, transparentes y consultables.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Tus hitos dentro del equipo.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Descarga tu reporte personal en PDF.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8AD37AF-98FE-110B-8478-7EF47359586F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7D12AF1-40D7-6F0F-7B0B-9E2FB8AC9C89}"/>
              </a:ext>
            </a:extLst>
          </p:cNvPr>
          <p:cNvSpPr txBox="1"/>
          <p:nvPr/>
        </p:nvSpPr>
        <p:spPr>
          <a:xfrm>
            <a:off x="11176000" y="6502400"/>
            <a:ext cx="50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386532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1E3B149-8931-F78B-64E3-F54F0777708F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Mis Vacaciones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D4CD69A-F0C2-0B36-B1F9-449E62CF96A4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1453400-150C-91D3-9ABB-FCCBA35A941F}"/>
              </a:ext>
            </a:extLst>
          </p:cNvPr>
          <p:cNvSpPr txBox="1"/>
          <p:nvPr/>
        </p:nvSpPr>
        <p:spPr>
          <a:xfrm>
            <a:off x="711200" y="1422400"/>
            <a:ext cx="5029200" cy="15542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Días calculados conforme a la Ley Federal del Trabajo («Vacaciones Dignas»), desde tu fecha de ingreso.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La solicitud se hace en la aplicación y genera el documento oficial en PDF.</a:t>
            </a:r>
          </a:p>
          <a:p>
            <a:pPr>
              <a:spcAft>
                <a:spcPts val="1200"/>
              </a:spcAft>
            </a:pPr>
            <a:r>
              <a:rPr lang="es-MX" sz="1500">
                <a:solidFill>
                  <a:srgbClr val="28303E"/>
                </a:solidFill>
                <a:latin typeface="Segoe UI" panose="020B0502040204020203" pitchFamily="34" charset="0"/>
              </a:rPr>
              <a:t>•  Estados claros: sabes qué puedes cancelar y qué ya no.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27A3A7A-AB78-6773-DB75-F917E07858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0" y="1422400"/>
            <a:ext cx="5969000" cy="3619500"/>
          </a:xfrm>
          <a:prstGeom prst="rect">
            <a:avLst/>
          </a:prstGeom>
          <a:ln w="12700">
            <a:solidFill>
              <a:srgbClr val="D1D5DB"/>
            </a:solidFill>
          </a:ln>
          <a:effectLst>
            <a:outerShdw blurRad="63500" sx="102000" sy="102000" algn="ctr">
              <a:prstClr val="black">
                <a:alpha val="25000"/>
              </a:prstClr>
            </a:outerShdw>
          </a:effec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0A0BBB3-082D-CA36-D7D7-6B524F052372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B1A90E8-2B50-4DAB-28C1-FD27CCAE7496}"/>
              </a:ext>
            </a:extLst>
          </p:cNvPr>
          <p:cNvSpPr txBox="1"/>
          <p:nvPr/>
        </p:nvSpPr>
        <p:spPr>
          <a:xfrm>
            <a:off x="11176000" y="6502400"/>
            <a:ext cx="50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1186486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83899FC-08A7-25DC-293A-D66F7DDD5A29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Presencia y jornada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A09D396-4A35-9A89-8673-E327BEC6656D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0A912B-A061-8D8B-C4EB-59DBBD93C5F7}"/>
              </a:ext>
            </a:extLst>
          </p:cNvPr>
          <p:cNvSpPr txBox="1"/>
          <p:nvPr/>
        </p:nvSpPr>
        <p:spPr>
          <a:xfrm>
            <a:off x="711200" y="1422400"/>
            <a:ext cx="10769600" cy="11849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«Quién está»: presencia en vivo; tú eliges tu estado (ocupado, en reunión, comiendo…).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Registro de jornada por día: entrada y salida.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Los estados no se guardan en historial: son para coordinar, no para vigilar.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94A7535-438D-19E7-7DC0-335F16AFC3FE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63C6F4-F536-44E8-F5B8-635FE3A6E3C1}"/>
              </a:ext>
            </a:extLst>
          </p:cNvPr>
          <p:cNvSpPr txBox="1"/>
          <p:nvPr/>
        </p:nvSpPr>
        <p:spPr>
          <a:xfrm>
            <a:off x="11176000" y="6502400"/>
            <a:ext cx="50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771807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AA2375-4E33-C6CB-3BDD-4C0655B7E090}"/>
              </a:ext>
            </a:extLst>
          </p:cNvPr>
          <p:cNvSpPr txBox="1"/>
          <p:nvPr/>
        </p:nvSpPr>
        <p:spPr>
          <a:xfrm>
            <a:off x="711200" y="431800"/>
            <a:ext cx="107696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2700" b="1">
                <a:solidFill>
                  <a:srgbClr val="1F2937"/>
                </a:solidFill>
                <a:latin typeface="Segoe UI" panose="020B0502040204020203" pitchFamily="34" charset="0"/>
              </a:rPr>
              <a:t>Tu voz: Sugerencias y Foro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2E83CD-EB46-208C-1345-158C4DDB9852}"/>
              </a:ext>
            </a:extLst>
          </p:cNvPr>
          <p:cNvSpPr/>
          <p:nvPr/>
        </p:nvSpPr>
        <p:spPr>
          <a:xfrm>
            <a:off x="736600" y="1041400"/>
            <a:ext cx="10668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BA2A786-CEE2-24DF-6568-BC630BB76B61}"/>
              </a:ext>
            </a:extLst>
          </p:cNvPr>
          <p:cNvSpPr txBox="1"/>
          <p:nvPr/>
        </p:nvSpPr>
        <p:spPr>
          <a:xfrm>
            <a:off x="711200" y="1422400"/>
            <a:ext cx="10769600" cy="11849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Sugerencias: tú decides si es pública o solo para el administrador, con votación o sin ella, incluso anónima.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Foro del equipo: muro con tarjetas, comentarios anidados, reacciones y temas.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8303E"/>
                </a:solidFill>
                <a:latin typeface="Segoe UI" panose="020B0502040204020203" pitchFamily="34" charset="0"/>
              </a:rPr>
              <a:t>•  Nada se borra: lo retirado conserva su hueco en el hilo.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1D358A-2EF0-F581-2FBF-B44232BE2101}"/>
              </a:ext>
            </a:extLst>
          </p:cNvPr>
          <p:cNvSpPr txBox="1"/>
          <p:nvPr/>
        </p:nvSpPr>
        <p:spPr>
          <a:xfrm>
            <a:off x="711200" y="65024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Administrador de Desarrollo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8194844-141F-3682-A079-2B880AE9755D}"/>
              </a:ext>
            </a:extLst>
          </p:cNvPr>
          <p:cNvSpPr txBox="1"/>
          <p:nvPr/>
        </p:nvSpPr>
        <p:spPr>
          <a:xfrm>
            <a:off x="11176000" y="6502400"/>
            <a:ext cx="50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s-MX" sz="1000">
                <a:solidFill>
                  <a:srgbClr val="9CA3AF"/>
                </a:solidFill>
                <a:latin typeface="Segoe UI" panose="020B0502040204020203" pitchFamily="34" charset="0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3254640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259C138-8F83-AF3D-E9D1-B29856C440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5C99BB9-7831-50CF-2826-4E33A6F28DB3}"/>
              </a:ext>
            </a:extLst>
          </p:cNvPr>
          <p:cNvSpPr/>
          <p:nvPr/>
        </p:nvSpPr>
        <p:spPr>
          <a:xfrm>
            <a:off x="762000" y="1752600"/>
            <a:ext cx="1066800" cy="635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7A8C33-FA7B-2B81-F7B8-6E5D1DE927C2}"/>
              </a:ext>
            </a:extLst>
          </p:cNvPr>
          <p:cNvSpPr txBox="1"/>
          <p:nvPr/>
        </p:nvSpPr>
        <p:spPr>
          <a:xfrm>
            <a:off x="762000" y="1016000"/>
            <a:ext cx="10668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3200" b="1">
                <a:solidFill>
                  <a:srgbClr val="FFFFFF"/>
                </a:solidFill>
                <a:latin typeface="Segoe UI" panose="020B0502040204020203" pitchFamily="34" charset="0"/>
              </a:rPr>
              <a:t>Primeros pasos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D8738D-4075-5FB4-8CF0-E87769B2A7F5}"/>
              </a:ext>
            </a:extLst>
          </p:cNvPr>
          <p:cNvSpPr txBox="1"/>
          <p:nvPr/>
        </p:nvSpPr>
        <p:spPr>
          <a:xfrm>
            <a:off x="762000" y="2222500"/>
            <a:ext cx="10668000" cy="17389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1400"/>
              </a:spcAft>
            </a:pPr>
            <a:r>
              <a:rPr lang="es-MX">
                <a:solidFill>
                  <a:srgbClr val="E5E7EB"/>
                </a:solidFill>
                <a:latin typeface="Segoe UI" panose="020B0502040204020203" pitchFamily="34" charset="0"/>
              </a:rPr>
              <a:t>•  Te crean tu usuario; al primer ingreso cambias tu contraseña.</a:t>
            </a:r>
          </a:p>
          <a:p>
            <a:pPr>
              <a:spcAft>
                <a:spcPts val="1400"/>
              </a:spcAft>
            </a:pPr>
            <a:r>
              <a:rPr lang="es-MX">
                <a:solidFill>
                  <a:srgbClr val="E5E7EB"/>
                </a:solidFill>
                <a:latin typeface="Segoe UI" panose="020B0502040204020203" pitchFamily="34" charset="0"/>
              </a:rPr>
              <a:t>•  Captura tu PAT en Mis SLA para la integración con DevOps.</a:t>
            </a:r>
          </a:p>
          <a:p>
            <a:pPr>
              <a:spcAft>
                <a:spcPts val="1400"/>
              </a:spcAft>
            </a:pPr>
            <a:r>
              <a:rPr lang="es-MX">
                <a:solidFill>
                  <a:srgbClr val="E5E7EB"/>
                </a:solidFill>
                <a:latin typeface="Segoe UI" panose="020B0502040204020203" pitchFamily="34" charset="0"/>
              </a:rPr>
              <a:t>•  El Manual del Desarrollador (PDF) trae todo lo de hoy, con detalle.</a:t>
            </a:r>
          </a:p>
          <a:p>
            <a:pPr>
              <a:spcAft>
                <a:spcPts val="1400"/>
              </a:spcAft>
            </a:pPr>
            <a:r>
              <a:rPr lang="es-MX">
                <a:solidFill>
                  <a:srgbClr val="E5E7EB"/>
                </a:solidFill>
                <a:latin typeface="Segoe UI" panose="020B0502040204020203" pitchFamily="34" charset="0"/>
              </a:rPr>
              <a:t>•  ¿Dudas? El foro del equipo o tu administrador.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1FF71B-EA9C-DD01-B96F-93F936F148BF}"/>
              </a:ext>
            </a:extLst>
          </p:cNvPr>
          <p:cNvSpPr txBox="1"/>
          <p:nvPr/>
        </p:nvSpPr>
        <p:spPr>
          <a:xfrm>
            <a:off x="762000" y="5969000"/>
            <a:ext cx="762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MX" sz="1400">
                <a:solidFill>
                  <a:srgbClr val="93C5FD"/>
                </a:solidFill>
                <a:latin typeface="Segoe UI" panose="020B0502040204020203" pitchFamily="34" charset="0"/>
              </a:rPr>
              <a:t>Gracias — ¿preguntas?</a:t>
            </a:r>
          </a:p>
        </p:txBody>
      </p:sp>
    </p:spTree>
    <p:extLst>
      <p:ext uri="{BB962C8B-B14F-4D97-AF65-F5344CB8AC3E}">
        <p14:creationId xmlns:p14="http://schemas.microsoft.com/office/powerpoint/2010/main" val="28099702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Microsoft Office PowerPoint</Application>
  <PresentationFormat>Personalizado</PresentationFormat>
  <Paragraphs>81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Gerardo Tellez</dc:creator>
  <cp:lastModifiedBy>Gerardo Tellez</cp:lastModifiedBy>
  <cp:revision>1</cp:revision>
  <dcterms:created xsi:type="dcterms:W3CDTF">2026-08-03T09:07:52Z</dcterms:created>
  <dcterms:modified xsi:type="dcterms:W3CDTF">2026-08-03T09:07:52Z</dcterms:modified>
</cp:coreProperties>
</file>