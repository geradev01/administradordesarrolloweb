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DE9AE-A352-17B7-A023-58A859527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A40CFC-241E-83E4-128E-952EB63C6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7F85CA-E250-9129-A698-10FC3986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C7CB22-7640-9D24-2D27-F6C70A55C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333BE1-9E19-2F68-8D67-C20AB9D3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676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2DA79-5EF0-3E49-ACAB-9BF2DD9E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0202D7-5AFE-322F-2C1D-BCA6B5AE7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34DEE9-3C89-C545-BFDC-AD182657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1EC5C3-EBDE-F42F-E6F2-4590BF92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D2ECC1-28E5-2273-425B-3FC6AE4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116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466EF-0CDB-ED64-BD43-C4EB30D0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F07238-0193-5958-570B-EC26E6EF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85CBC-F25E-7E7D-EBD0-73748F91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8E3F52-0374-122C-3BBF-8CB00CA9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D92868-1289-376A-97C7-205D82EF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557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C0F9B-7DE4-D64C-3420-535919EF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4BE87F-3FBA-5857-D628-EBCAA1700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8EB29A-9B3A-5D3B-549E-2B626776E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A411DC-BCB6-72AB-86B1-2CF6D5B4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F5BC3F-4A8B-FAEE-6831-7A8D4428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DA3B6F-40F6-BF3E-0427-FCF2D854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645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69BA1-09C0-E9F8-FF1A-0FC58D34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58E503-3B16-614E-7F06-D59B2A37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93C3E2-2B72-D09D-69E1-503493B22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57D5F3-6E38-2072-7EF5-5BD63FB62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2CE787-3AB8-3580-7075-423CBA853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3E9617-820A-18C2-0639-8FD5C961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8E23030-00CD-1691-3359-2FDD0D36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924127-3DC3-322F-ED06-539B7BC8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887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E725F-6C1B-BE13-8F3E-87894E16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1F9198-21DB-1A1C-47C4-54267727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56B7E1-BEA6-A2FB-10D3-074FD6EA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77BC43-22F7-F19C-2387-16A8AD3D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229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4B1416-608C-3EF6-6701-1201AFF1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D479F-6E36-617E-FDB0-B736F7C0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1EFB4A-0405-9EEA-99D1-AE34CF55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377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8CFF7-8606-A49B-959C-2D27E6EC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315-639B-E8EB-69AD-84F8069CC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EBD8D8-5019-10DC-22B5-D28432483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E6971-0C4D-7D34-CC1D-A621C356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6C5B36-DF8A-6D22-C22A-3A0ACBE5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C663D4-D32C-2EF2-EE1F-E5AABB16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960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7C3F6-F863-AAF9-A585-472E50B23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388C2F-6725-D553-7F23-5EC83A782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6167B-CB94-D1D2-BC21-B79EC490C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A4E993-732B-44B9-5DA2-790F137D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33515B-9A6D-27F2-D194-6496BAE0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D9B6AB-AA04-1ABE-0789-FB92DCC7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014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16F15-8F82-35B7-F5F2-662789A0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FA2311-086D-A267-6DDB-B692C7BDA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A68C95-786F-28DF-769C-90A691057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6EB980-697D-0F86-BAB8-0358A15B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AF3AC2-7682-E4B7-B19D-6277EAE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235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1F7DAF-B615-53B9-AAF4-A4526581B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769799-171E-5043-F464-C752D6F0C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4AC4C-2756-F314-9135-E0D64B06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433DBA-27FB-D8BE-135A-EF069186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2E131D-47CC-FBF1-3945-F947DE0D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738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F8640D-2F10-770A-E81B-3519B220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4FF385-9E61-14DB-C207-D32F82D17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7485C8-F4E8-4B68-7B2B-A175DA108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087A6-C5DB-4347-A4B7-DEBA963A429E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EC126-2AE8-F80D-2162-60A433FFD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9BF82-7C19-F30F-9327-041C2DAB8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FE2BE-C170-43D0-87E7-D1A2A371DF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34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5FCB86B-FDB4-7DD0-84DC-C3D50335BD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FF9224F-63D4-6072-5FFB-820D317B437A}"/>
              </a:ext>
            </a:extLst>
          </p:cNvPr>
          <p:cNvSpPr/>
          <p:nvPr/>
        </p:nvSpPr>
        <p:spPr>
          <a:xfrm>
            <a:off x="762000" y="3708400"/>
            <a:ext cx="10668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835937-818D-0489-60FD-C24164DB0730}"/>
              </a:ext>
            </a:extLst>
          </p:cNvPr>
          <p:cNvSpPr txBox="1"/>
          <p:nvPr/>
        </p:nvSpPr>
        <p:spPr>
          <a:xfrm>
            <a:off x="762000" y="2413000"/>
            <a:ext cx="10668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36D944-F4B1-7AB0-2CB1-EE3C23CCAF7C}"/>
              </a:ext>
            </a:extLst>
          </p:cNvPr>
          <p:cNvSpPr txBox="1"/>
          <p:nvPr/>
        </p:nvSpPr>
        <p:spPr>
          <a:xfrm>
            <a:off x="762000" y="38862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200">
                <a:solidFill>
                  <a:srgbClr val="93C5FD"/>
                </a:solidFill>
                <a:latin typeface="Segoe UI" panose="020B0502040204020203" pitchFamily="34" charset="0"/>
              </a:rPr>
              <a:t>Despliegues de principio a fin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FBC54E-CC62-1F6C-FAAC-7C3D081AA758}"/>
              </a:ext>
            </a:extLst>
          </p:cNvPr>
          <p:cNvSpPr txBox="1"/>
          <p:nvPr/>
        </p:nvSpPr>
        <p:spPr>
          <a:xfrm>
            <a:off x="762000" y="596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300">
                <a:solidFill>
                  <a:srgbClr val="9CA3AF"/>
                </a:solidFill>
                <a:latin typeface="Segoe UI" panose="020B0502040204020203" pitchFamily="34" charset="0"/>
              </a:rPr>
              <a:t>Presentación del producto · Operaciones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30CDA5-1B93-1B52-6ED5-60E332CEF0CA}"/>
              </a:ext>
            </a:extLst>
          </p:cNvPr>
          <p:cNvSpPr txBox="1"/>
          <p:nvPr/>
        </p:nvSpPr>
        <p:spPr>
          <a:xfrm>
            <a:off x="9652000" y="5969000"/>
            <a:ext cx="177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300">
                <a:solidFill>
                  <a:srgbClr val="9CA3AF"/>
                </a:solidFill>
                <a:latin typeface="Segoe UI" panose="020B0502040204020203" pitchFamily="34" charset="0"/>
              </a:rPr>
              <a:t>Soltum</a:t>
            </a:r>
          </a:p>
        </p:txBody>
      </p:sp>
    </p:spTree>
    <p:extLst>
      <p:ext uri="{BB962C8B-B14F-4D97-AF65-F5344CB8AC3E}">
        <p14:creationId xmlns:p14="http://schemas.microsoft.com/office/powerpoint/2010/main" val="356903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F6799C-A632-C0B6-6D94-03539B325B96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¿Qué es?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CBA84A-6941-C607-9088-49E90C47DA80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B657B4-70AC-B8CF-51C0-3955DC172572}"/>
              </a:ext>
            </a:extLst>
          </p:cNvPr>
          <p:cNvSpPr txBox="1"/>
          <p:nvPr/>
        </p:nvSpPr>
        <p:spPr>
          <a:xfrm>
            <a:off x="711200" y="1422400"/>
            <a:ext cx="107696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Una sola aplicación de escritorio para todo el equipo, conectada a la base compartida.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Con tu rol de Operaciones ves el módulo de Despliegues y tus avisos.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Lo que capturas lo ven todos al momento, desde cualquier PC.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Un solo ejecutable, sin instalación.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D98C1E-0BEE-62D3-733F-D10FCFF888BA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78D80C-C2E2-170D-1D1C-60B41F9413D6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05184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74E3F9-EB7C-C063-B7EF-E46286C5505C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Tu 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99BF57-4B39-E955-1D25-0DF8BDE64AA6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B23C35-2EE9-5E60-CEDF-E3630B4828B3}"/>
              </a:ext>
            </a:extLst>
          </p:cNvPr>
          <p:cNvSpPr txBox="1"/>
          <p:nvPr/>
        </p:nvSpPr>
        <p:spPr>
          <a:xfrm>
            <a:off x="711200" y="1422400"/>
            <a:ext cx="10769600" cy="18620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Desplegar versiones a los servidores: en vivo o programado.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Por perfil o por selección directa de servidores (los 22 de una sola corrida si hace falta).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Dar de alta servidores nuevos.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Editar o dar de baja servidores queda con el administrador: uno mal editado rompe los despliegues de todos.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510037-BB1E-7844-1DB5-0279E5C5206A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8F9460-0223-5F24-67CB-4F1720F52614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301677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4B2CA6-2FC7-C8B6-ED14-59175A749589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Antes de desplegar: la lista de verificación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B11CFB-C855-F1CF-6540-C681286B0724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7A15D3-9E96-22DD-A0E0-0039CA02B962}"/>
              </a:ext>
            </a:extLst>
          </p:cNvPr>
          <p:cNvSpPr txBox="1"/>
          <p:nvPr/>
        </p:nvSpPr>
        <p:spPr>
          <a:xfrm>
            <a:off x="711200" y="1422400"/>
            <a:ext cx="107696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Checklist obligatorio antes de cada corrida.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Queda guardado como evidencia del despliegue y se puede exportar.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022387-08A4-AC9E-F9A6-0649EF1FB01D}"/>
              </a:ext>
            </a:extLst>
          </p:cNvPr>
          <p:cNvSpPr/>
          <p:nvPr/>
        </p:nvSpPr>
        <p:spPr>
          <a:xfrm>
            <a:off x="0" y="6045200"/>
            <a:ext cx="12192000" cy="508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6520B2-AA24-9378-20A5-0183C8B9E9F4}"/>
              </a:ext>
            </a:extLst>
          </p:cNvPr>
          <p:cNvSpPr txBox="1"/>
          <p:nvPr/>
        </p:nvSpPr>
        <p:spPr>
          <a:xfrm>
            <a:off x="711200" y="6146800"/>
            <a:ext cx="965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i="1">
                <a:solidFill>
                  <a:srgbClr val="6B7280"/>
                </a:solidFill>
                <a:latin typeface="Segoe UI" panose="020B0502040204020203" pitchFamily="34" charset="0"/>
              </a:rPr>
              <a:t>Cuando alguien pregunte «¿quién autorizó esto?», la respuesta está en el sistema.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6B41EF-80B8-7C11-C85E-0BF0B5619E7C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53C016-8B95-71B4-84E5-3F6271A69E6F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246882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AAA20D9-0EAC-75CC-4C96-B86D328945F4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Desplegar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DFF897-2716-6736-CF72-DB42ADE348D0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0CB760-C559-1591-0347-8B35E0D15362}"/>
              </a:ext>
            </a:extLst>
          </p:cNvPr>
          <p:cNvSpPr txBox="1"/>
          <p:nvPr/>
        </p:nvSpPr>
        <p:spPr>
          <a:xfrm>
            <a:off x="711200" y="1422400"/>
            <a:ext cx="50292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Eliges sistema, versión y destino, con el changelog a la vista.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Respaldo previo por servidor: si el respaldo falla, NO se despliega.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El paquete se lee en streaming desde Azure Blob: sin descargas ni carpetas temporales.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Reintentos automáticos ante conexión lenta.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26DB29-D728-8D5A-9A56-85B1C54288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3C2E9A8-7D76-2869-6ADE-CC76E6897071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2D0DF33-8BE4-5AFC-5AC1-D126B308BB7E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7572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1AD875-411D-06B4-C078-664687F2F0F2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Durante la corrida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3643E0-3F16-9E00-C30B-CA4D8CB6E8B2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EBE5D4-5042-0263-B482-4C53F2CCE7BC}"/>
              </a:ext>
            </a:extLst>
          </p:cNvPr>
          <p:cNvSpPr txBox="1"/>
          <p:nvPr/>
        </p:nvSpPr>
        <p:spPr>
          <a:xfrm>
            <a:off x="711200" y="1422400"/>
            <a:ext cx="107696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Consola en vivo con horas y avance servidor por servidor.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Puedes cambiar de pantalla: el despliegue sigue corriendo.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Cancelar es ordenado: lo ya subido queda registrado.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Estados finales honestos: Completado, Parcial, Fallido o Cancelado.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1A796C-AE1D-302A-6596-2A877A0DE057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D838D8-5E80-AB2F-5356-066C4B93E1E6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225503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FAD4AB1-2B9A-BBD6-A30C-EB88560843DF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Estado: qué hay en cada servidor HOY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952FDA-E2DE-0757-F97C-6EF6750C8634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C92020-F8A0-74BF-1A27-57DACD1374CE}"/>
              </a:ext>
            </a:extLst>
          </p:cNvPr>
          <p:cNvSpPr txBox="1"/>
          <p:nvPr/>
        </p:nvSpPr>
        <p:spPr>
          <a:xfrm>
            <a:off x="711200" y="1422400"/>
            <a:ext cx="50292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Qué versión tiene cada servidor, quién la puso y cuándo.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Al día, atrasado o sin desplegar, con resumen de un vistazo.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«Solo atrasados» es tu lista de pendientes.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Doble clic y saltas a ese despliegue en el Historial, con su log completo.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D81E0B-95E5-7986-C4A6-3AE0E9BB8E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02CDC1C-6616-0B6D-5FCA-4D3C831B235E}"/>
              </a:ext>
            </a:extLst>
          </p:cNvPr>
          <p:cNvSpPr/>
          <p:nvPr/>
        </p:nvSpPr>
        <p:spPr>
          <a:xfrm>
            <a:off x="0" y="6045200"/>
            <a:ext cx="12192000" cy="508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3DF6CC-2CE3-46E4-FCE1-E2C2B16DAF50}"/>
              </a:ext>
            </a:extLst>
          </p:cNvPr>
          <p:cNvSpPr txBox="1"/>
          <p:nvPr/>
        </p:nvSpPr>
        <p:spPr>
          <a:xfrm>
            <a:off x="711200" y="6146800"/>
            <a:ext cx="965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i="1">
                <a:solidFill>
                  <a:srgbClr val="6B7280"/>
                </a:solidFill>
                <a:latin typeface="Segoe UI" panose="020B0502040204020203" pitchFamily="34" charset="0"/>
              </a:rPr>
              <a:t>Nuevo en esta versión.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52E700-ED58-8B64-9F73-71172213FC0B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6E5066-64AE-75CD-213B-221D4E868CDC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355876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473D02-E8F8-F429-7260-437B1A2BA1A1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Historial y evidencia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7AB7DB-3CA5-5D82-3777-275DB9FB98C6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807A5D-C6C6-A68F-AFE7-B16271933D5B}"/>
              </a:ext>
            </a:extLst>
          </p:cNvPr>
          <p:cNvSpPr txBox="1"/>
          <p:nvPr/>
        </p:nvSpPr>
        <p:spPr>
          <a:xfrm>
            <a:off x="711200" y="1422400"/>
            <a:ext cx="50292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Los últimos 200 despliegues: quién, cuándo y cómo terminó.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Log completo por despliegue, coloreado por nivel.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Evidencia de un despliegue a archivo de texto; historial completo a Excel.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5BCF33-01E3-98A8-31DB-5ACFED8FBAB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DD22710-A40D-09FE-E5DA-32DBAB1CD99F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89D1307-38A4-9839-885C-E862B9B12927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76682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7B8598-580C-F627-0771-530C7DBD3D11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Servidores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157C09-E727-6066-FF25-D007982EF7DD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1556DA-2C1C-ACD4-A347-0958833B0492}"/>
              </a:ext>
            </a:extLst>
          </p:cNvPr>
          <p:cNvSpPr txBox="1"/>
          <p:nvPr/>
        </p:nvSpPr>
        <p:spPr>
          <a:xfrm>
            <a:off x="711200" y="1422400"/>
            <a:ext cx="5029200" cy="17851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Puedes dar de alta destinos nuevos con sus credenciales.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Las credenciales viven en la base compartida: lo que capturas hoy lo usa cualquier compañero desde cualquier PC, sin volver a capturar.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Si te equivocas en un dato, el administrador lo corrige.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6810E9-2EEB-9AE3-24CF-1B060AB39A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98DC809-34AC-2336-B297-7DE79A288719}"/>
              </a:ext>
            </a:extLst>
          </p:cNvPr>
          <p:cNvSpPr/>
          <p:nvPr/>
        </p:nvSpPr>
        <p:spPr>
          <a:xfrm>
            <a:off x="0" y="6045200"/>
            <a:ext cx="12192000" cy="508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348DDA-FBFC-0787-CDE2-013ED7A0848D}"/>
              </a:ext>
            </a:extLst>
          </p:cNvPr>
          <p:cNvSpPr txBox="1"/>
          <p:nvPr/>
        </p:nvSpPr>
        <p:spPr>
          <a:xfrm>
            <a:off x="711200" y="6146800"/>
            <a:ext cx="965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i="1">
                <a:solidFill>
                  <a:srgbClr val="6B7280"/>
                </a:solidFill>
                <a:latin typeface="Segoe UI" panose="020B0502040204020203" pitchFamily="34" charset="0"/>
              </a:rPr>
              <a:t>Nuevo: antes cada PC tenía que capturar las contraseñas por su cuenta.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D410F2-6C82-B558-AEFD-D6278D532BD6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F51F574-C858-B624-F0FC-DF1178641E26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271883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679F8AD-EBB7-E809-B516-D8C068AB55F9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Despliegues programados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8FB7CB-621E-573E-C4EC-B3E8C33737C2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40EB4B-01E5-676A-0E76-B102FA608084}"/>
              </a:ext>
            </a:extLst>
          </p:cNvPr>
          <p:cNvSpPr txBox="1"/>
          <p:nvPr/>
        </p:nvSpPr>
        <p:spPr>
          <a:xfrm>
            <a:off x="711200" y="1422400"/>
            <a:ext cx="50292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Cita a hora concreta, por perfil o servidores directos.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Tolerancia configurable si nadie está al pendiente a esa hora.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Cualquier instancia abierta ejecuta la cita: deja la aplicación abierta o en la bandeja.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0AC9DD-9A25-1A87-B59E-68FD865998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3095957-5C42-3022-138C-485F101553D4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1CC3793-F09C-6C2B-B271-B0F7305E537C}"/>
              </a:ext>
            </a:extLst>
          </p:cNvPr>
          <p:cNvSpPr txBox="1"/>
          <p:nvPr/>
        </p:nvSpPr>
        <p:spPr>
          <a:xfrm>
            <a:off x="11176000" y="65024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80817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3ECF8F-415D-797C-D6F6-BC7C73F04544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Si algo sale mal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CF47CCB-CA86-8908-DD84-9822A808E335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AF0974-9AD6-D2E1-99DE-D240B4FB939D}"/>
              </a:ext>
            </a:extLst>
          </p:cNvPr>
          <p:cNvSpPr txBox="1"/>
          <p:nvPr/>
        </p:nvSpPr>
        <p:spPr>
          <a:xfrm>
            <a:off x="711200" y="1422400"/>
            <a:ext cx="107696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Reintentos automáticos ante cortes de red.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El respaldo previo es la red de seguridad: siempre hay a dónde regresar.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Los errores dicen servidor y motivo, no un código suelto.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El manual trae la lista de problemas frecuentes y su salida.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58838D-9B6E-1336-87AC-D0EE92E8B8AC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008AF3-6DC8-B0FE-8957-886B621A8BD7}"/>
              </a:ext>
            </a:extLst>
          </p:cNvPr>
          <p:cNvSpPr txBox="1"/>
          <p:nvPr/>
        </p:nvSpPr>
        <p:spPr>
          <a:xfrm>
            <a:off x="11176000" y="65024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78715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D930262-ECD7-92E6-B208-C84AAF4312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D2D36C-0FF3-16DD-B126-AA39985B3398}"/>
              </a:ext>
            </a:extLst>
          </p:cNvPr>
          <p:cNvSpPr/>
          <p:nvPr/>
        </p:nvSpPr>
        <p:spPr>
          <a:xfrm>
            <a:off x="762000" y="1752600"/>
            <a:ext cx="10668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53BABB-0CFB-5307-4237-B6B2927DAF61}"/>
              </a:ext>
            </a:extLst>
          </p:cNvPr>
          <p:cNvSpPr txBox="1"/>
          <p:nvPr/>
        </p:nvSpPr>
        <p:spPr>
          <a:xfrm>
            <a:off x="762000" y="1016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3200" b="1">
                <a:solidFill>
                  <a:srgbClr val="FFFFFF"/>
                </a:solidFill>
                <a:latin typeface="Segoe UI" panose="020B0502040204020203" pitchFamily="34" charset="0"/>
              </a:rPr>
              <a:t>Primeros pasos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E38AFC-84C5-8286-9F86-AF2B9E86294F}"/>
              </a:ext>
            </a:extLst>
          </p:cNvPr>
          <p:cNvSpPr txBox="1"/>
          <p:nvPr/>
        </p:nvSpPr>
        <p:spPr>
          <a:xfrm>
            <a:off x="762000" y="2222500"/>
            <a:ext cx="10668000" cy="128240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Tu usuario tiene rol Operaciones: entra y verás justo lo de hoy.</a:t>
            </a:r>
          </a:p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El Manual de Operaciones (PDF) trae el paso a paso con capturas de cada pestaña.</a:t>
            </a:r>
          </a:p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¿Dudas? El administrador o el foro del equipo.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989B21-0EC4-059C-A34F-C25189D208F6}"/>
              </a:ext>
            </a:extLst>
          </p:cNvPr>
          <p:cNvSpPr txBox="1"/>
          <p:nvPr/>
        </p:nvSpPr>
        <p:spPr>
          <a:xfrm>
            <a:off x="762000" y="5969000"/>
            <a:ext cx="762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93C5FD"/>
                </a:solidFill>
                <a:latin typeface="Segoe UI" panose="020B0502040204020203" pitchFamily="34" charset="0"/>
              </a:rPr>
              <a:t>Gracias — ¿preguntas?</a:t>
            </a:r>
          </a:p>
        </p:txBody>
      </p:sp>
    </p:spTree>
    <p:extLst>
      <p:ext uri="{BB962C8B-B14F-4D97-AF65-F5344CB8AC3E}">
        <p14:creationId xmlns:p14="http://schemas.microsoft.com/office/powerpoint/2010/main" val="1703226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Personalizado</PresentationFormat>
  <Paragraphs>77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Gerardo Tellez</dc:creator>
  <cp:lastModifiedBy>Gerardo Tellez</cp:lastModifiedBy>
  <cp:revision>1</cp:revision>
  <dcterms:created xsi:type="dcterms:W3CDTF">2026-08-03T09:07:53Z</dcterms:created>
  <dcterms:modified xsi:type="dcterms:W3CDTF">2026-08-03T09:07:53Z</dcterms:modified>
</cp:coreProperties>
</file>